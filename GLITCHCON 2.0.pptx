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0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7" r:id="rId10"/>
    <p:sldId id="262" r:id="rId11"/>
    <p:sldId id="261" r:id="rId12"/>
    <p:sldId id="266" r:id="rId13"/>
  </p:sldIdLst>
  <p:sldSz cx="18288000" cy="10287000"/>
  <p:notesSz cx="6858000" cy="9144000"/>
  <p:embeddedFontLst>
    <p:embeddedFont>
      <p:font typeface="Arimo" panose="020B0604020202020204" charset="0"/>
      <p:regular r:id="rId14"/>
    </p:embeddedFont>
    <p:embeddedFont>
      <p:font typeface="Montserrat Bold" panose="020B0604020202020204" charset="0"/>
      <p:regular r:id="rId15"/>
      <p:bold r:id="rId16"/>
    </p:embeddedFont>
    <p:embeddedFont>
      <p:font typeface="Playfair Display Bold" panose="020B0604020202020204" charset="0"/>
      <p:regular r:id="rId17"/>
      <p:bold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57102F-43BD-B36D-5265-7AA713B9A697}" name="RAHUL M" initials="R2" userId="S::rahul.m2025a@vitstudent.ac.in::654a89b8-b5fb-4148-bb2f-9bc41721b9a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E7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5" d="100"/>
          <a:sy n="65" d="100"/>
        </p:scale>
        <p:origin x="8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5.fntdata"/><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4.fntdata"/><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2.fntdata"/><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1.fntdata"/><Relationship Id="rId22" Type="http://schemas.openxmlformats.org/officeDocument/2006/relationships/tableStyles" Target="tableStyles.xml"/></Relationships>
</file>

<file path=ppt/comments/modernComment_100_0.xml><?xml version="1.0" encoding="utf-8"?>
<p188:cmLst xmlns:a="http://schemas.openxmlformats.org/drawingml/2006/main" xmlns:r="http://schemas.openxmlformats.org/officeDocument/2006/relationships" xmlns:p188="http://schemas.microsoft.com/office/powerpoint/2018/8/main">
  <p188:cm id="{DCD0CB55-B32F-4731-AFCA-ADCEC65738C3}" authorId="{9957102F-43BD-B36D-5265-7AA713B9A697}" created="2026-03-08T18:24:58.586">
    <pc:sldMkLst xmlns:pc="http://schemas.microsoft.com/office/powerpoint/2013/main/command">
      <pc:docMk/>
      <pc:sldMk cId="0" sldId="256"/>
    </pc:sldMkLst>
    <p188:txBody>
      <a:bodyPr/>
      <a:lstStyle/>
      <a:p>
        <a:r>
          <a:rPr lang="en-SG"/>
          <a:t>Go to File-&gt;Create a copy-&gt;Download</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microsoft.com/office/2018/10/relationships/comments" Target="../comments/modernComment_100_0.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SG"/>
          </a:p>
        </p:txBody>
      </p:sp>
      <p:grpSp>
        <p:nvGrpSpPr>
          <p:cNvPr id="3" name="Group 3"/>
          <p:cNvGrpSpPr/>
          <p:nvPr/>
        </p:nvGrpSpPr>
        <p:grpSpPr>
          <a:xfrm>
            <a:off x="632753" y="636360"/>
            <a:ext cx="17103324" cy="1479628"/>
            <a:chOff x="0" y="0"/>
            <a:chExt cx="22804433" cy="1972837"/>
          </a:xfrm>
        </p:grpSpPr>
        <p:grpSp>
          <p:nvGrpSpPr>
            <p:cNvPr id="4" name="Group 4"/>
            <p:cNvGrpSpPr/>
            <p:nvPr/>
          </p:nvGrpSpPr>
          <p:grpSpPr>
            <a:xfrm>
              <a:off x="14170825" y="0"/>
              <a:ext cx="8633608" cy="1747411"/>
              <a:chOff x="0" y="0"/>
              <a:chExt cx="979436" cy="198234"/>
            </a:xfrm>
          </p:grpSpPr>
          <p:sp>
            <p:nvSpPr>
              <p:cNvPr id="5" name="Freeform 5"/>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6" name="TextBox 6"/>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7" name="TextBox 7"/>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8" name="Freeform 8"/>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4"/>
              <a:stretch>
                <a:fillRect l="-12251" t="-36010" r="-12482" b="-53141"/>
              </a:stretch>
            </a:blipFill>
          </p:spPr>
          <p:txBody>
            <a:bodyPr/>
            <a:lstStyle/>
            <a:p>
              <a:endParaRPr lang="en-SG"/>
            </a:p>
          </p:txBody>
        </p:sp>
        <p:grpSp>
          <p:nvGrpSpPr>
            <p:cNvPr id="9" name="Group 9"/>
            <p:cNvGrpSpPr/>
            <p:nvPr/>
          </p:nvGrpSpPr>
          <p:grpSpPr>
            <a:xfrm>
              <a:off x="20167830" y="331442"/>
              <a:ext cx="1084526" cy="1084526"/>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en-SG"/>
              </a:p>
            </p:txBody>
          </p:sp>
        </p:grpSp>
        <p:sp>
          <p:nvSpPr>
            <p:cNvPr id="11" name="Freeform 11"/>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6"/>
              <a:stretch>
                <a:fillRect l="-95" t="-40049" r="-7054" b="-38629"/>
              </a:stretch>
            </a:blipFill>
          </p:spPr>
          <p:txBody>
            <a:bodyPr/>
            <a:lstStyle/>
            <a:p>
              <a:endParaRPr lang="en-SG"/>
            </a:p>
          </p:txBody>
        </p:sp>
        <p:sp>
          <p:nvSpPr>
            <p:cNvPr id="12" name="Freeform 12"/>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7"/>
              <a:stretch>
                <a:fillRect/>
              </a:stretch>
            </a:blipFill>
          </p:spPr>
          <p:txBody>
            <a:bodyPr/>
            <a:lstStyle/>
            <a:p>
              <a:endParaRPr lang="en-SG"/>
            </a:p>
          </p:txBody>
        </p:sp>
      </p:grpSp>
      <p:sp>
        <p:nvSpPr>
          <p:cNvPr id="13" name="TextBox 13"/>
          <p:cNvSpPr txBox="1"/>
          <p:nvPr/>
        </p:nvSpPr>
        <p:spPr>
          <a:xfrm>
            <a:off x="-844108" y="3193062"/>
            <a:ext cx="19976215" cy="2808000"/>
          </a:xfrm>
          <a:prstGeom prst="rect">
            <a:avLst/>
          </a:prstGeom>
        </p:spPr>
        <p:txBody>
          <a:bodyPr lIns="0" tIns="0" rIns="0" bIns="0" rtlCol="0" anchor="t">
            <a:spAutoFit/>
          </a:bodyPr>
          <a:lstStyle/>
          <a:p>
            <a:pPr algn="ctr">
              <a:lnSpc>
                <a:spcPts val="13588"/>
              </a:lnSpc>
            </a:pPr>
            <a:r>
              <a:rPr lang="en-US" sz="60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PREDICTIVE EQUIPMENT MAINTENANCE </a:t>
            </a:r>
          </a:p>
          <a:p>
            <a:pPr algn="ctr">
              <a:lnSpc>
                <a:spcPts val="13588"/>
              </a:lnSpc>
            </a:pPr>
            <a:r>
              <a:rPr lang="en-US" sz="60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AGENT (MRI/CT)</a:t>
            </a:r>
          </a:p>
        </p:txBody>
      </p:sp>
      <p:sp>
        <p:nvSpPr>
          <p:cNvPr id="14" name="TextBox 14"/>
          <p:cNvSpPr txBox="1"/>
          <p:nvPr/>
        </p:nvSpPr>
        <p:spPr>
          <a:xfrm>
            <a:off x="5257410" y="7408001"/>
            <a:ext cx="7115499" cy="961587"/>
          </a:xfrm>
          <a:prstGeom prst="rect">
            <a:avLst/>
          </a:prstGeom>
        </p:spPr>
        <p:txBody>
          <a:bodyPr lIns="0" tIns="0" rIns="0" bIns="0" rtlCol="0" anchor="t">
            <a:spAutoFit/>
          </a:bodyPr>
          <a:lstStyle/>
          <a:p>
            <a:pPr algn="ctr">
              <a:lnSpc>
                <a:spcPts val="7268"/>
              </a:lnSpc>
            </a:pPr>
            <a:r>
              <a:rPr lang="en-US" sz="7268"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TEAM 404</a:t>
            </a:r>
          </a:p>
        </p:txBody>
      </p:sp>
    </p:spTree>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a:p>
        </p:txBody>
      </p:sp>
      <p:sp>
        <p:nvSpPr>
          <p:cNvPr id="3" name="TextBox 3"/>
          <p:cNvSpPr txBox="1"/>
          <p:nvPr/>
        </p:nvSpPr>
        <p:spPr>
          <a:xfrm>
            <a:off x="2483857" y="2686618"/>
            <a:ext cx="12596178" cy="961587"/>
          </a:xfrm>
          <a:prstGeom prst="rect">
            <a:avLst/>
          </a:prstGeom>
        </p:spPr>
        <p:txBody>
          <a:bodyPr lIns="0" tIns="0" rIns="0" bIns="0" rtlCol="0" anchor="t">
            <a:spAutoFit/>
          </a:bodyPr>
          <a:lstStyle/>
          <a:p>
            <a:pPr algn="ctr">
              <a:lnSpc>
                <a:spcPts val="7268"/>
              </a:lnSpc>
            </a:pPr>
            <a:r>
              <a:rPr lang="en-US" sz="7268" b="1">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GUIDELINES</a:t>
            </a:r>
          </a:p>
        </p:txBody>
      </p:sp>
      <p:sp>
        <p:nvSpPr>
          <p:cNvPr id="4" name="TextBox 4"/>
          <p:cNvSpPr txBox="1"/>
          <p:nvPr/>
        </p:nvSpPr>
        <p:spPr>
          <a:xfrm>
            <a:off x="632753" y="4160270"/>
            <a:ext cx="14975733" cy="5543643"/>
          </a:xfrm>
          <a:prstGeom prst="rect">
            <a:avLst/>
          </a:prstGeom>
        </p:spPr>
        <p:txBody>
          <a:bodyPr lIns="0" tIns="0" rIns="0" bIns="0" rtlCol="0" anchor="t">
            <a:spAutoFit/>
          </a:bodyPr>
          <a:lstStyle/>
          <a:p>
            <a:pPr marL="677666" lvl="1" indent="-338833" algn="l">
              <a:lnSpc>
                <a:spcPts val="4394"/>
              </a:lnSpc>
              <a:buFont typeface="Arial"/>
              <a:buChar char="•"/>
            </a:pPr>
            <a:r>
              <a:rPr lang="en-US" sz="3138" dirty="0">
                <a:solidFill>
                  <a:schemeClr val="bg1"/>
                </a:solidFill>
                <a:latin typeface="Arimo"/>
                <a:ea typeface="Arimo"/>
                <a:cs typeface="Arimo"/>
                <a:sym typeface="Arimo"/>
              </a:rPr>
              <a:t>GitHub Submission: Submit your GitHub repository 8 hours before final evaluation.</a:t>
            </a:r>
          </a:p>
          <a:p>
            <a:pPr marL="677666" lvl="1" indent="-338833" algn="l">
              <a:lnSpc>
                <a:spcPts val="4394"/>
              </a:lnSpc>
              <a:buFont typeface="Arial"/>
              <a:buChar char="•"/>
            </a:pPr>
            <a:r>
              <a:rPr lang="en-US" sz="3138" dirty="0">
                <a:solidFill>
                  <a:schemeClr val="bg1"/>
                </a:solidFill>
                <a:latin typeface="Arimo"/>
                <a:ea typeface="Arimo"/>
                <a:cs typeface="Arimo"/>
                <a:sym typeface="Arimo"/>
              </a:rPr>
              <a:t>Deployment: Deploy the complete project repository (frontend deployment optional).</a:t>
            </a:r>
          </a:p>
          <a:p>
            <a:pPr marL="677666" lvl="1" indent="-338833" algn="l">
              <a:lnSpc>
                <a:spcPts val="4394"/>
              </a:lnSpc>
              <a:buFont typeface="Arial"/>
              <a:buChar char="•"/>
            </a:pPr>
            <a:r>
              <a:rPr lang="en-US" sz="3138" dirty="0">
                <a:solidFill>
                  <a:schemeClr val="bg1"/>
                </a:solidFill>
                <a:latin typeface="Arimo"/>
                <a:ea typeface="Arimo"/>
                <a:cs typeface="Arimo"/>
                <a:sym typeface="Arimo"/>
              </a:rPr>
              <a:t>Plagiarism Check: All submissions will undergo plagiarism verification.</a:t>
            </a:r>
          </a:p>
          <a:p>
            <a:pPr marL="677666" lvl="1" indent="-338833" algn="l">
              <a:lnSpc>
                <a:spcPts val="4394"/>
              </a:lnSpc>
              <a:buFont typeface="Arial"/>
              <a:buChar char="•"/>
            </a:pPr>
            <a:r>
              <a:rPr lang="en-US" sz="3138" dirty="0">
                <a:solidFill>
                  <a:schemeClr val="bg1"/>
                </a:solidFill>
                <a:latin typeface="Arimo"/>
                <a:ea typeface="Arimo"/>
                <a:cs typeface="Arimo"/>
                <a:sym typeface="Arimo"/>
              </a:rPr>
              <a:t>Pitch Format: Round 1 &amp; Round 2 will include a 7-minute project pitch + evaluation.</a:t>
            </a:r>
          </a:p>
          <a:p>
            <a:pPr marL="677666" lvl="1" indent="-338833" algn="l">
              <a:lnSpc>
                <a:spcPts val="4394"/>
              </a:lnSpc>
              <a:buFont typeface="Arial"/>
              <a:buChar char="•"/>
            </a:pPr>
            <a:r>
              <a:rPr lang="en-US" sz="3138" dirty="0">
                <a:solidFill>
                  <a:schemeClr val="bg1"/>
                </a:solidFill>
                <a:latin typeface="Arimo"/>
                <a:ea typeface="Arimo"/>
                <a:cs typeface="Arimo"/>
                <a:sym typeface="Arimo"/>
              </a:rPr>
              <a:t>Team Requirement: Minimum 3 team members must be present during evaluation.</a:t>
            </a:r>
          </a:p>
          <a:p>
            <a:pPr algn="l">
              <a:lnSpc>
                <a:spcPts val="4394"/>
              </a:lnSpc>
              <a:spcBef>
                <a:spcPct val="0"/>
              </a:spcBef>
            </a:pPr>
            <a:endParaRPr lang="en-US" sz="3138" dirty="0">
              <a:solidFill>
                <a:srgbClr val="FFFFFF"/>
              </a:solidFill>
              <a:latin typeface="Arimo"/>
              <a:ea typeface="Arimo"/>
              <a:cs typeface="Arimo"/>
              <a:sym typeface="Arimo"/>
            </a:endParaRPr>
          </a:p>
        </p:txBody>
      </p:sp>
      <p:grpSp>
        <p:nvGrpSpPr>
          <p:cNvPr id="5" name="Group 5"/>
          <p:cNvGrpSpPr/>
          <p:nvPr/>
        </p:nvGrpSpPr>
        <p:grpSpPr>
          <a:xfrm>
            <a:off x="632753" y="636360"/>
            <a:ext cx="17103324" cy="1479628"/>
            <a:chOff x="0" y="0"/>
            <a:chExt cx="22804433" cy="1972837"/>
          </a:xfrm>
        </p:grpSpPr>
        <p:grpSp>
          <p:nvGrpSpPr>
            <p:cNvPr id="6" name="Group 6"/>
            <p:cNvGrpSpPr/>
            <p:nvPr/>
          </p:nvGrpSpPr>
          <p:grpSpPr>
            <a:xfrm>
              <a:off x="14170825" y="0"/>
              <a:ext cx="8633608" cy="1747411"/>
              <a:chOff x="0" y="0"/>
              <a:chExt cx="979436" cy="198234"/>
            </a:xfrm>
          </p:grpSpPr>
          <p:sp>
            <p:nvSpPr>
              <p:cNvPr id="7" name="Freeform 7"/>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8" name="TextBox 8"/>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9" name="TextBox 9"/>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10" name="Freeform 10"/>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1" name="Group 11"/>
            <p:cNvGrpSpPr/>
            <p:nvPr/>
          </p:nvGrpSpPr>
          <p:grpSpPr>
            <a:xfrm>
              <a:off x="20167830" y="331442"/>
              <a:ext cx="1084526" cy="108452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3" name="Freeform 13"/>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4" name="Freeform 14"/>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a:p>
        </p:txBody>
      </p:sp>
      <p:sp>
        <p:nvSpPr>
          <p:cNvPr id="3" name="TextBox 3"/>
          <p:cNvSpPr txBox="1"/>
          <p:nvPr/>
        </p:nvSpPr>
        <p:spPr>
          <a:xfrm>
            <a:off x="632753" y="3606460"/>
            <a:ext cx="17184154" cy="5062027"/>
          </a:xfrm>
          <a:prstGeom prst="rect">
            <a:avLst/>
          </a:prstGeom>
        </p:spPr>
        <p:txBody>
          <a:bodyPr wrap="square" lIns="0" tIns="0" rIns="0" bIns="0" rtlCol="0" anchor="t">
            <a:spAutoFit/>
          </a:bodyPr>
          <a:lstStyle/>
          <a:p>
            <a:pPr algn="just">
              <a:lnSpc>
                <a:spcPct val="200000"/>
              </a:lnSpc>
            </a:pPr>
            <a:r>
              <a:rPr lang="en-US" sz="2400"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	Hospitals rely on critical imaging equipment such as MRI and CT scanners to perform many patient scans daily. Unexpected failures can disrupt hospital operations, delay diagnoses, and cause significant financial losses. However, current maintenance methods are mostly reactive or schedule-based, ignoring early warning signals in telemetry data like temperature changes, pressure drops, and error codes. As a result, issues are often detected only after a breakdown occurs. This highlights the need for an AI-driven predictive maintenance system that monitors machine telemetry, detects anomalies early, and enables proactive maintenance to ensure maximum uptime and uninterrupted patient care.</a:t>
            </a:r>
          </a:p>
        </p:txBody>
      </p:sp>
      <p:grpSp>
        <p:nvGrpSpPr>
          <p:cNvPr id="4" name="Group 4"/>
          <p:cNvGrpSpPr/>
          <p:nvPr/>
        </p:nvGrpSpPr>
        <p:grpSpPr>
          <a:xfrm>
            <a:off x="632753" y="636360"/>
            <a:ext cx="17103324" cy="1479628"/>
            <a:chOff x="0" y="0"/>
            <a:chExt cx="22804433" cy="1972837"/>
          </a:xfrm>
        </p:grpSpPr>
        <p:grpSp>
          <p:nvGrpSpPr>
            <p:cNvPr id="5" name="Group 5"/>
            <p:cNvGrpSpPr/>
            <p:nvPr/>
          </p:nvGrpSpPr>
          <p:grpSpPr>
            <a:xfrm>
              <a:off x="14170825" y="0"/>
              <a:ext cx="8633608" cy="1747411"/>
              <a:chOff x="0" y="0"/>
              <a:chExt cx="979436" cy="198234"/>
            </a:xfrm>
          </p:grpSpPr>
          <p:sp>
            <p:nvSpPr>
              <p:cNvPr id="6" name="Freeform 6"/>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7" name="TextBox 7"/>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8" name="TextBox 8"/>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9" name="Freeform 9"/>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0" name="Group 10"/>
            <p:cNvGrpSpPr/>
            <p:nvPr/>
          </p:nvGrpSpPr>
          <p:grpSpPr>
            <a:xfrm>
              <a:off x="20167830" y="331442"/>
              <a:ext cx="1084526" cy="108452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2" name="Freeform 12"/>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3" name="Freeform 13"/>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sp>
        <p:nvSpPr>
          <p:cNvPr id="14" name="TextBox 13">
            <a:extLst>
              <a:ext uri="{FF2B5EF4-FFF2-40B4-BE49-F238E27FC236}">
                <a16:creationId xmlns:a16="http://schemas.microsoft.com/office/drawing/2014/main" id="{F00B140B-684B-10F0-4766-5CA68C353F88}"/>
              </a:ext>
            </a:extLst>
          </p:cNvPr>
          <p:cNvSpPr txBox="1"/>
          <p:nvPr/>
        </p:nvSpPr>
        <p:spPr>
          <a:xfrm>
            <a:off x="632753" y="2476500"/>
            <a:ext cx="6248400" cy="1323439"/>
          </a:xfrm>
          <a:prstGeom prst="rect">
            <a:avLst/>
          </a:prstGeom>
          <a:noFill/>
        </p:spPr>
        <p:txBody>
          <a:bodyPr wrap="square" rtlCol="0">
            <a:spAutoFit/>
          </a:bodyPr>
          <a:lstStyle/>
          <a:p>
            <a:r>
              <a:rPr lang="en-IN" sz="4400" b="1" u="sng" dirty="0">
                <a:solidFill>
                  <a:srgbClr val="A1E7D8"/>
                </a:solidFill>
              </a:rPr>
              <a:t>PROBLEM STATEMENT</a:t>
            </a:r>
          </a:p>
          <a:p>
            <a:endParaRPr lang="en-IN" sz="3600" b="1" u="sng" dirty="0">
              <a:solidFill>
                <a:schemeClr val="accent3">
                  <a:lumMod val="60000"/>
                  <a:lumOff val="4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240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a:p>
        </p:txBody>
      </p:sp>
      <p:sp>
        <p:nvSpPr>
          <p:cNvPr id="3" name="TextBox 3"/>
          <p:cNvSpPr txBox="1"/>
          <p:nvPr/>
        </p:nvSpPr>
        <p:spPr>
          <a:xfrm>
            <a:off x="533400" y="2325244"/>
            <a:ext cx="5105400" cy="854208"/>
          </a:xfrm>
          <a:prstGeom prst="rect">
            <a:avLst/>
          </a:prstGeom>
        </p:spPr>
        <p:txBody>
          <a:bodyPr wrap="square" lIns="0" tIns="0" rIns="0" bIns="0" rtlCol="0" anchor="t">
            <a:spAutoFit/>
          </a:bodyPr>
          <a:lstStyle/>
          <a:p>
            <a:pPr>
              <a:lnSpc>
                <a:spcPts val="7268"/>
              </a:lnSpc>
            </a:pPr>
            <a:r>
              <a:rPr lang="en-US" sz="4800" b="1" u="sng"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SOLUTION</a:t>
            </a:r>
          </a:p>
        </p:txBody>
      </p:sp>
      <p:grpSp>
        <p:nvGrpSpPr>
          <p:cNvPr id="4" name="Group 4"/>
          <p:cNvGrpSpPr/>
          <p:nvPr/>
        </p:nvGrpSpPr>
        <p:grpSpPr>
          <a:xfrm>
            <a:off x="632753" y="636360"/>
            <a:ext cx="17103324" cy="1479628"/>
            <a:chOff x="0" y="0"/>
            <a:chExt cx="22804433" cy="1972837"/>
          </a:xfrm>
        </p:grpSpPr>
        <p:grpSp>
          <p:nvGrpSpPr>
            <p:cNvPr id="5" name="Group 5"/>
            <p:cNvGrpSpPr/>
            <p:nvPr/>
          </p:nvGrpSpPr>
          <p:grpSpPr>
            <a:xfrm>
              <a:off x="14170825" y="0"/>
              <a:ext cx="8633608" cy="1747411"/>
              <a:chOff x="0" y="0"/>
              <a:chExt cx="979436" cy="198234"/>
            </a:xfrm>
          </p:grpSpPr>
          <p:sp>
            <p:nvSpPr>
              <p:cNvPr id="6" name="Freeform 6"/>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7" name="TextBox 7"/>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8" name="TextBox 8"/>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9" name="Freeform 9"/>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0" name="Group 10"/>
            <p:cNvGrpSpPr/>
            <p:nvPr/>
          </p:nvGrpSpPr>
          <p:grpSpPr>
            <a:xfrm>
              <a:off x="20167830" y="331442"/>
              <a:ext cx="1084526" cy="108452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2" name="Freeform 12"/>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3" name="Freeform 13"/>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sp>
        <p:nvSpPr>
          <p:cNvPr id="14" name="TextBox 13">
            <a:extLst>
              <a:ext uri="{FF2B5EF4-FFF2-40B4-BE49-F238E27FC236}">
                <a16:creationId xmlns:a16="http://schemas.microsoft.com/office/drawing/2014/main" id="{D691DFBD-4863-7A98-BDA4-6248D85C92E3}"/>
              </a:ext>
            </a:extLst>
          </p:cNvPr>
          <p:cNvSpPr txBox="1"/>
          <p:nvPr/>
        </p:nvSpPr>
        <p:spPr>
          <a:xfrm>
            <a:off x="914400" y="3695700"/>
            <a:ext cx="16459200" cy="5509200"/>
          </a:xfrm>
          <a:prstGeom prst="rect">
            <a:avLst/>
          </a:prstGeom>
          <a:noFill/>
        </p:spPr>
        <p:txBody>
          <a:bodyPr wrap="square" rtlCol="0">
            <a:spAutoFit/>
          </a:bodyPr>
          <a:lstStyle/>
          <a:p>
            <a:pPr algn="just"/>
            <a:r>
              <a:rPr lang="en-US" sz="3200" dirty="0">
                <a:solidFill>
                  <a:srgbClr val="A1E7D8"/>
                </a:solidFill>
              </a:rPr>
              <a:t>	AI-driven Predictive Equipment Maintenance Agent that continuously monitors telemetry data from MRI and CT machines, including parameters such as temperature, helium pressure, vibration, error codes, and scan usage. The system analyzes this data using anomaly detection and time-series pattern analysis to identify early signs of potential equipment failures. Based on the detected risk level, the agent can automatically recommend preventive maintenance, notify engineering teams, and intelligently reschedule affected patient appointments to minimize disruption. Additionally, the system introduces innovative features such as Eco-Mode energy optimization, which reduces power consumption during idle periods, and an Intelligent Limp Mode, allowing restricted machine operation for low-intensity scans instead of complete shutdown, thereby improving machine uptime, reducing operational costs, and ensuring continuous patient care </a:t>
            </a:r>
            <a:endParaRPr lang="en-IN" sz="3200" dirty="0">
              <a:solidFill>
                <a:srgbClr val="A1E7D8"/>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dirty="0"/>
          </a:p>
        </p:txBody>
      </p:sp>
      <p:sp>
        <p:nvSpPr>
          <p:cNvPr id="3" name="TextBox 3"/>
          <p:cNvSpPr txBox="1"/>
          <p:nvPr/>
        </p:nvSpPr>
        <p:spPr>
          <a:xfrm>
            <a:off x="650338" y="2325244"/>
            <a:ext cx="6554622" cy="854208"/>
          </a:xfrm>
          <a:prstGeom prst="rect">
            <a:avLst/>
          </a:prstGeom>
        </p:spPr>
        <p:txBody>
          <a:bodyPr wrap="square" lIns="0" tIns="0" rIns="0" bIns="0" rtlCol="0" anchor="t">
            <a:spAutoFit/>
          </a:bodyPr>
          <a:lstStyle/>
          <a:p>
            <a:pPr>
              <a:lnSpc>
                <a:spcPts val="7300"/>
              </a:lnSpc>
            </a:pPr>
            <a:r>
              <a:rPr lang="en-US" sz="48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INNOVATION &amp; USP</a:t>
            </a:r>
          </a:p>
        </p:txBody>
      </p:sp>
      <p:grpSp>
        <p:nvGrpSpPr>
          <p:cNvPr id="4" name="Group 4"/>
          <p:cNvGrpSpPr/>
          <p:nvPr/>
        </p:nvGrpSpPr>
        <p:grpSpPr>
          <a:xfrm>
            <a:off x="632753" y="636360"/>
            <a:ext cx="17103324" cy="1479628"/>
            <a:chOff x="0" y="0"/>
            <a:chExt cx="22804433" cy="1972837"/>
          </a:xfrm>
        </p:grpSpPr>
        <p:grpSp>
          <p:nvGrpSpPr>
            <p:cNvPr id="5" name="Group 5"/>
            <p:cNvGrpSpPr/>
            <p:nvPr/>
          </p:nvGrpSpPr>
          <p:grpSpPr>
            <a:xfrm>
              <a:off x="14170825" y="0"/>
              <a:ext cx="8633608" cy="1747411"/>
              <a:chOff x="0" y="0"/>
              <a:chExt cx="979436" cy="198234"/>
            </a:xfrm>
          </p:grpSpPr>
          <p:sp>
            <p:nvSpPr>
              <p:cNvPr id="6" name="Freeform 6"/>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7" name="TextBox 7"/>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8" name="TextBox 8"/>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9" name="Freeform 9"/>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0" name="Group 10"/>
            <p:cNvGrpSpPr/>
            <p:nvPr/>
          </p:nvGrpSpPr>
          <p:grpSpPr>
            <a:xfrm>
              <a:off x="20167830" y="331442"/>
              <a:ext cx="1084526" cy="108452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2" name="Freeform 12"/>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3" name="Freeform 13"/>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sp>
        <p:nvSpPr>
          <p:cNvPr id="15" name="TextBox 14">
            <a:extLst>
              <a:ext uri="{FF2B5EF4-FFF2-40B4-BE49-F238E27FC236}">
                <a16:creationId xmlns:a16="http://schemas.microsoft.com/office/drawing/2014/main" id="{A1966FFE-7EA3-AB7F-49C9-48BCAAE2625F}"/>
              </a:ext>
            </a:extLst>
          </p:cNvPr>
          <p:cNvSpPr txBox="1"/>
          <p:nvPr/>
        </p:nvSpPr>
        <p:spPr>
          <a:xfrm>
            <a:off x="632753" y="3388708"/>
            <a:ext cx="16969447" cy="6124754"/>
          </a:xfrm>
          <a:prstGeom prst="rect">
            <a:avLst/>
          </a:prstGeom>
          <a:noFill/>
        </p:spPr>
        <p:txBody>
          <a:bodyPr wrap="square" rtlCol="0">
            <a:spAutoFit/>
          </a:bodyPr>
          <a:lstStyle/>
          <a:p>
            <a:pPr marL="457200" indent="-457200">
              <a:buFont typeface="Arial" panose="020B0604020202020204" pitchFamily="34" charset="0"/>
              <a:buChar char="•"/>
            </a:pPr>
            <a:r>
              <a:rPr lang="en-IN" sz="2800" dirty="0">
                <a:solidFill>
                  <a:srgbClr val="A1E7D8"/>
                </a:solidFill>
              </a:rPr>
              <a:t>AI-Driven Predictive Maintenance:</a:t>
            </a:r>
          </a:p>
          <a:p>
            <a:r>
              <a:rPr lang="en-IN" sz="2800" dirty="0">
                <a:solidFill>
                  <a:srgbClr val="A1E7D8"/>
                </a:solidFill>
              </a:rPr>
              <a:t>Continuously monitors MRI/CT telemetry such as temperature, helium pressure, vibration, and error codes.</a:t>
            </a:r>
          </a:p>
          <a:p>
            <a:r>
              <a:rPr lang="en-IN" sz="2800" dirty="0">
                <a:solidFill>
                  <a:srgbClr val="A1E7D8"/>
                </a:solidFill>
              </a:rPr>
              <a:t>Uses time-series anomaly detection to identify early failure signatures before breakdown.</a:t>
            </a:r>
          </a:p>
          <a:p>
            <a:r>
              <a:rPr lang="en-IN" sz="2800" dirty="0">
                <a:solidFill>
                  <a:srgbClr val="A1E7D8"/>
                </a:solidFill>
              </a:rPr>
              <a:t>Predicts failure risk levels (Normal, Monitor, Maintenance Required, Critical) and recommends preventive maintenance.</a:t>
            </a:r>
          </a:p>
          <a:p>
            <a:pPr marL="457200" indent="-457200">
              <a:buFont typeface="Arial" panose="020B0604020202020204" pitchFamily="34" charset="0"/>
              <a:buChar char="•"/>
            </a:pPr>
            <a:r>
              <a:rPr lang="en-IN" sz="2800" dirty="0">
                <a:solidFill>
                  <a:srgbClr val="A1E7D8"/>
                </a:solidFill>
              </a:rPr>
              <a:t>Intelligent “Limp Mode” :</a:t>
            </a:r>
          </a:p>
          <a:p>
            <a:r>
              <a:rPr lang="en-IN" sz="2800" dirty="0">
                <a:solidFill>
                  <a:srgbClr val="A1E7D8"/>
                </a:solidFill>
              </a:rPr>
              <a:t>Adaptive Workload Control Introduces a Restricted Operation Mode instead of complete machine </a:t>
            </a:r>
            <a:r>
              <a:rPr lang="en-IN" sz="2800" dirty="0" err="1">
                <a:solidFill>
                  <a:srgbClr val="A1E7D8"/>
                </a:solidFill>
              </a:rPr>
              <a:t>shutdown.The</a:t>
            </a:r>
            <a:r>
              <a:rPr lang="en-IN" sz="2800" dirty="0">
                <a:solidFill>
                  <a:srgbClr val="A1E7D8"/>
                </a:solidFill>
              </a:rPr>
              <a:t> system </a:t>
            </a:r>
            <a:r>
              <a:rPr lang="en-IN" sz="2800" dirty="0" err="1">
                <a:solidFill>
                  <a:srgbClr val="A1E7D8"/>
                </a:solidFill>
              </a:rPr>
              <a:t>analyzes</a:t>
            </a:r>
            <a:r>
              <a:rPr lang="en-IN" sz="2800" dirty="0">
                <a:solidFill>
                  <a:srgbClr val="A1E7D8"/>
                </a:solidFill>
              </a:rPr>
              <a:t> the type of detected fault and determines which scans can still run safely.</a:t>
            </a:r>
          </a:p>
          <a:p>
            <a:r>
              <a:rPr lang="en-IN" sz="2800" dirty="0">
                <a:solidFill>
                  <a:srgbClr val="A1E7D8"/>
                </a:solidFill>
              </a:rPr>
              <a:t>Example: If a gradient coil overheats, high-power body scans are restricted while low-power head scans continue, maintaining partial service availability.</a:t>
            </a:r>
          </a:p>
          <a:p>
            <a:pPr marL="457200" indent="-457200">
              <a:buFont typeface="Arial" panose="020B0604020202020204" pitchFamily="34" charset="0"/>
              <a:buChar char="•"/>
            </a:pPr>
            <a:r>
              <a:rPr lang="en-IN" sz="2800" dirty="0">
                <a:solidFill>
                  <a:srgbClr val="A1E7D8"/>
                </a:solidFill>
              </a:rPr>
              <a:t>Eco-Mode &amp; Smart Energy Optimization </a:t>
            </a:r>
          </a:p>
          <a:p>
            <a:r>
              <a:rPr lang="en-IN" sz="2800" dirty="0">
                <a:solidFill>
                  <a:srgbClr val="A1E7D8"/>
                </a:solidFill>
              </a:rPr>
              <a:t>Detects idle gaps in the patient schedule automatically. Switches MRI machines to Eco-Standby / Deep Sleep mode during idle </a:t>
            </a:r>
            <a:r>
              <a:rPr lang="en-IN" sz="2800" dirty="0" err="1">
                <a:solidFill>
                  <a:srgbClr val="A1E7D8"/>
                </a:solidFill>
              </a:rPr>
              <a:t>periods.Automatically</a:t>
            </a:r>
            <a:r>
              <a:rPr lang="en-IN" sz="2800" dirty="0">
                <a:solidFill>
                  <a:srgbClr val="A1E7D8"/>
                </a:solidFill>
              </a:rPr>
              <a:t> wakes the machine before the next scan, reducing energy waste while maintaining readiness.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00058-3EFC-5B33-42C7-2FC1BA7CB0F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1514AC0-A3AE-C782-A1AB-E4F9C82C91F4}"/>
              </a:ext>
            </a:extLst>
          </p:cNvPr>
          <p:cNvSpPr/>
          <p:nvPr/>
        </p:nvSpPr>
        <p:spPr>
          <a:xfrm>
            <a:off x="-2012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a:p>
        </p:txBody>
      </p:sp>
      <p:grpSp>
        <p:nvGrpSpPr>
          <p:cNvPr id="4" name="Group 4">
            <a:extLst>
              <a:ext uri="{FF2B5EF4-FFF2-40B4-BE49-F238E27FC236}">
                <a16:creationId xmlns:a16="http://schemas.microsoft.com/office/drawing/2014/main" id="{4AE7E38E-59FB-1E23-5EB3-4AE3BD724759}"/>
              </a:ext>
            </a:extLst>
          </p:cNvPr>
          <p:cNvGrpSpPr/>
          <p:nvPr/>
        </p:nvGrpSpPr>
        <p:grpSpPr>
          <a:xfrm>
            <a:off x="632753" y="636360"/>
            <a:ext cx="17103324" cy="1479628"/>
            <a:chOff x="0" y="0"/>
            <a:chExt cx="22804433" cy="1972837"/>
          </a:xfrm>
        </p:grpSpPr>
        <p:grpSp>
          <p:nvGrpSpPr>
            <p:cNvPr id="5" name="Group 5">
              <a:extLst>
                <a:ext uri="{FF2B5EF4-FFF2-40B4-BE49-F238E27FC236}">
                  <a16:creationId xmlns:a16="http://schemas.microsoft.com/office/drawing/2014/main" id="{16D8B39F-A4AA-5F6A-6EF7-60BAB47A5165}"/>
                </a:ext>
              </a:extLst>
            </p:cNvPr>
            <p:cNvGrpSpPr/>
            <p:nvPr/>
          </p:nvGrpSpPr>
          <p:grpSpPr>
            <a:xfrm>
              <a:off x="14170825" y="0"/>
              <a:ext cx="8633608" cy="1747411"/>
              <a:chOff x="0" y="0"/>
              <a:chExt cx="979436" cy="198234"/>
            </a:xfrm>
          </p:grpSpPr>
          <p:sp>
            <p:nvSpPr>
              <p:cNvPr id="6" name="Freeform 6">
                <a:extLst>
                  <a:ext uri="{FF2B5EF4-FFF2-40B4-BE49-F238E27FC236}">
                    <a16:creationId xmlns:a16="http://schemas.microsoft.com/office/drawing/2014/main" id="{E1338DF8-C7FC-9CD0-D483-695FC0DCB911}"/>
                  </a:ext>
                </a:extLst>
              </p:cNvPr>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7" name="TextBox 7">
                <a:extLst>
                  <a:ext uri="{FF2B5EF4-FFF2-40B4-BE49-F238E27FC236}">
                    <a16:creationId xmlns:a16="http://schemas.microsoft.com/office/drawing/2014/main" id="{91F53BC6-90AE-A85E-404C-814963FDD3AF}"/>
                  </a:ext>
                </a:extLst>
              </p:cNvPr>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8" name="TextBox 8">
              <a:extLst>
                <a:ext uri="{FF2B5EF4-FFF2-40B4-BE49-F238E27FC236}">
                  <a16:creationId xmlns:a16="http://schemas.microsoft.com/office/drawing/2014/main" id="{2BF156AC-85CE-9B03-F749-3C57D3E590D1}"/>
                </a:ext>
              </a:extLst>
            </p:cNvPr>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9" name="Freeform 9">
              <a:extLst>
                <a:ext uri="{FF2B5EF4-FFF2-40B4-BE49-F238E27FC236}">
                  <a16:creationId xmlns:a16="http://schemas.microsoft.com/office/drawing/2014/main" id="{A3DFD213-FEF3-A760-6B41-CCCD1A2F3ACC}"/>
                </a:ext>
              </a:extLst>
            </p:cNvPr>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0" name="Group 10">
              <a:extLst>
                <a:ext uri="{FF2B5EF4-FFF2-40B4-BE49-F238E27FC236}">
                  <a16:creationId xmlns:a16="http://schemas.microsoft.com/office/drawing/2014/main" id="{78A388DA-D8AB-431E-75E6-63F7088F9599}"/>
                </a:ext>
              </a:extLst>
            </p:cNvPr>
            <p:cNvGrpSpPr/>
            <p:nvPr/>
          </p:nvGrpSpPr>
          <p:grpSpPr>
            <a:xfrm>
              <a:off x="20167830" y="331442"/>
              <a:ext cx="1084526" cy="1084526"/>
              <a:chOff x="0" y="0"/>
              <a:chExt cx="812800" cy="812800"/>
            </a:xfrm>
          </p:grpSpPr>
          <p:sp>
            <p:nvSpPr>
              <p:cNvPr id="11" name="Freeform 11">
                <a:extLst>
                  <a:ext uri="{FF2B5EF4-FFF2-40B4-BE49-F238E27FC236}">
                    <a16:creationId xmlns:a16="http://schemas.microsoft.com/office/drawing/2014/main" id="{D8C437F9-4167-BB4F-AB43-D6664F58451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2" name="Freeform 12">
              <a:extLst>
                <a:ext uri="{FF2B5EF4-FFF2-40B4-BE49-F238E27FC236}">
                  <a16:creationId xmlns:a16="http://schemas.microsoft.com/office/drawing/2014/main" id="{FAC54F8E-3F66-7F64-79F1-36472BFCB7A3}"/>
                </a:ext>
              </a:extLst>
            </p:cNvPr>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3" name="Freeform 13">
              <a:extLst>
                <a:ext uri="{FF2B5EF4-FFF2-40B4-BE49-F238E27FC236}">
                  <a16:creationId xmlns:a16="http://schemas.microsoft.com/office/drawing/2014/main" id="{FA9172A4-3F08-4B17-429C-549441AB1AC1}"/>
                </a:ext>
              </a:extLst>
            </p:cNvPr>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sp>
        <p:nvSpPr>
          <p:cNvPr id="14" name="TextBox 13">
            <a:extLst>
              <a:ext uri="{FF2B5EF4-FFF2-40B4-BE49-F238E27FC236}">
                <a16:creationId xmlns:a16="http://schemas.microsoft.com/office/drawing/2014/main" id="{76E39D42-1178-15C9-FB9D-0227445776FE}"/>
              </a:ext>
            </a:extLst>
          </p:cNvPr>
          <p:cNvSpPr txBox="1"/>
          <p:nvPr/>
        </p:nvSpPr>
        <p:spPr>
          <a:xfrm>
            <a:off x="970479" y="3162300"/>
            <a:ext cx="16306800" cy="5078313"/>
          </a:xfrm>
          <a:prstGeom prst="rect">
            <a:avLst/>
          </a:prstGeom>
          <a:noFill/>
        </p:spPr>
        <p:txBody>
          <a:bodyPr wrap="square" rtlCol="0">
            <a:spAutoFit/>
          </a:bodyPr>
          <a:lstStyle/>
          <a:p>
            <a:pPr marL="571500" indent="-571500">
              <a:buFont typeface="Arial" panose="020B0604020202020204" pitchFamily="34" charset="0"/>
              <a:buChar char="•"/>
            </a:pPr>
            <a:r>
              <a:rPr lang="en-IN" sz="3600" dirty="0">
                <a:solidFill>
                  <a:srgbClr val="A1E7D8"/>
                </a:solidFill>
              </a:rPr>
              <a:t>Autonomous Hospital Workflow Optimization:</a:t>
            </a:r>
          </a:p>
          <a:p>
            <a:r>
              <a:rPr lang="en-IN" sz="3600" dirty="0">
                <a:solidFill>
                  <a:srgbClr val="A1E7D8"/>
                </a:solidFill>
              </a:rPr>
              <a:t>Automatically schedules maintenance with service vendors during optimal time windows. Reschedules patient appointments intelligently to minimize disruption. Provides cost impact analysis comparing preventive maintenance vs equipment breakdown.</a:t>
            </a:r>
          </a:p>
          <a:p>
            <a:pPr marL="571500" indent="-571500">
              <a:buFont typeface="Arial" panose="020B0604020202020204" pitchFamily="34" charset="0"/>
              <a:buChar char="•"/>
            </a:pPr>
            <a:r>
              <a:rPr lang="en-IN" sz="3600" dirty="0">
                <a:solidFill>
                  <a:srgbClr val="A1E7D8"/>
                </a:solidFill>
              </a:rPr>
              <a:t>Real-Time Decision Support Dashboard:</a:t>
            </a:r>
          </a:p>
          <a:p>
            <a:r>
              <a:rPr lang="en-IN" sz="3600" dirty="0">
                <a:solidFill>
                  <a:srgbClr val="A1E7D8"/>
                </a:solidFill>
              </a:rPr>
              <a:t>Displays machine health status, anomaly alerts, predicted failures, and maintenance recommendations. Shows energy savings and operational insights in real </a:t>
            </a:r>
            <a:r>
              <a:rPr lang="en-IN" sz="3600" dirty="0" err="1">
                <a:solidFill>
                  <a:srgbClr val="A1E7D8"/>
                </a:solidFill>
              </a:rPr>
              <a:t>time.Helps</a:t>
            </a:r>
            <a:r>
              <a:rPr lang="en-IN" sz="3600" dirty="0">
                <a:solidFill>
                  <a:srgbClr val="A1E7D8"/>
                </a:solidFill>
              </a:rPr>
              <a:t> hospital engineering teams make faster, data-driven decisions.</a:t>
            </a:r>
          </a:p>
        </p:txBody>
      </p:sp>
    </p:spTree>
    <p:extLst>
      <p:ext uri="{BB962C8B-B14F-4D97-AF65-F5344CB8AC3E}">
        <p14:creationId xmlns:p14="http://schemas.microsoft.com/office/powerpoint/2010/main" val="2377012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a:p>
        </p:txBody>
      </p:sp>
      <p:sp>
        <p:nvSpPr>
          <p:cNvPr id="3" name="TextBox 3"/>
          <p:cNvSpPr txBox="1"/>
          <p:nvPr/>
        </p:nvSpPr>
        <p:spPr>
          <a:xfrm>
            <a:off x="1371600" y="2933700"/>
            <a:ext cx="12652043" cy="1231106"/>
          </a:xfrm>
          <a:prstGeom prst="rect">
            <a:avLst/>
          </a:prstGeom>
        </p:spPr>
        <p:txBody>
          <a:bodyPr lIns="0" tIns="0" rIns="0" bIns="0" rtlCol="0" anchor="t">
            <a:spAutoFit/>
          </a:bodyPr>
          <a:lstStyle/>
          <a:p>
            <a:r>
              <a:rPr lang="en-US" sz="80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USP</a:t>
            </a:r>
            <a:endParaRPr lang="en-IN" sz="8000" dirty="0"/>
          </a:p>
        </p:txBody>
      </p:sp>
      <p:grpSp>
        <p:nvGrpSpPr>
          <p:cNvPr id="4" name="Group 4"/>
          <p:cNvGrpSpPr/>
          <p:nvPr/>
        </p:nvGrpSpPr>
        <p:grpSpPr>
          <a:xfrm>
            <a:off x="632753" y="636360"/>
            <a:ext cx="17103324" cy="1479628"/>
            <a:chOff x="0" y="0"/>
            <a:chExt cx="22804433" cy="1972837"/>
          </a:xfrm>
        </p:grpSpPr>
        <p:grpSp>
          <p:nvGrpSpPr>
            <p:cNvPr id="5" name="Group 5"/>
            <p:cNvGrpSpPr/>
            <p:nvPr/>
          </p:nvGrpSpPr>
          <p:grpSpPr>
            <a:xfrm>
              <a:off x="14170825" y="0"/>
              <a:ext cx="8633608" cy="1747411"/>
              <a:chOff x="0" y="0"/>
              <a:chExt cx="979436" cy="198234"/>
            </a:xfrm>
          </p:grpSpPr>
          <p:sp>
            <p:nvSpPr>
              <p:cNvPr id="6" name="Freeform 6"/>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7" name="TextBox 7"/>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8" name="TextBox 8"/>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9" name="Freeform 9"/>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0" name="Group 10"/>
            <p:cNvGrpSpPr/>
            <p:nvPr/>
          </p:nvGrpSpPr>
          <p:grpSpPr>
            <a:xfrm>
              <a:off x="20167830" y="331442"/>
              <a:ext cx="1084526" cy="108452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2" name="Freeform 12"/>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3" name="Freeform 13"/>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sp>
        <p:nvSpPr>
          <p:cNvPr id="14" name="TextBox 13">
            <a:extLst>
              <a:ext uri="{FF2B5EF4-FFF2-40B4-BE49-F238E27FC236}">
                <a16:creationId xmlns:a16="http://schemas.microsoft.com/office/drawing/2014/main" id="{67E1684A-3B3F-105A-24F7-0F435C1D6F6E}"/>
              </a:ext>
            </a:extLst>
          </p:cNvPr>
          <p:cNvSpPr txBox="1"/>
          <p:nvPr/>
        </p:nvSpPr>
        <p:spPr>
          <a:xfrm>
            <a:off x="1524000" y="4457700"/>
            <a:ext cx="15544800" cy="1077218"/>
          </a:xfrm>
          <a:prstGeom prst="rect">
            <a:avLst/>
          </a:prstGeom>
          <a:noFill/>
        </p:spPr>
        <p:txBody>
          <a:bodyPr wrap="square" rtlCol="0">
            <a:spAutoFit/>
          </a:bodyPr>
          <a:lstStyle/>
          <a:p>
            <a:r>
              <a:rPr lang="en-US" sz="3200" dirty="0">
                <a:solidFill>
                  <a:srgbClr val="A1E7D8"/>
                </a:solidFill>
              </a:rPr>
              <a:t>“Our system transforms hospital equipment maintenance from reactive repair to intelligent, energy-efficient, and patient-centric predictive operations.”</a:t>
            </a:r>
            <a:endParaRPr lang="en-IN" sz="3200" dirty="0">
              <a:solidFill>
                <a:srgbClr val="A1E7D8"/>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620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a:p>
        </p:txBody>
      </p:sp>
      <p:sp>
        <p:nvSpPr>
          <p:cNvPr id="3" name="TextBox 3"/>
          <p:cNvSpPr txBox="1"/>
          <p:nvPr/>
        </p:nvSpPr>
        <p:spPr>
          <a:xfrm>
            <a:off x="-76199" y="2743556"/>
            <a:ext cx="4952999" cy="3662669"/>
          </a:xfrm>
          <a:prstGeom prst="rect">
            <a:avLst/>
          </a:prstGeom>
        </p:spPr>
        <p:txBody>
          <a:bodyPr wrap="square" lIns="0" tIns="0" rIns="0" bIns="0" rtlCol="0" anchor="t">
            <a:spAutoFit/>
          </a:bodyPr>
          <a:lstStyle/>
          <a:p>
            <a:pPr algn="ctr">
              <a:lnSpc>
                <a:spcPts val="7300"/>
              </a:lnSpc>
            </a:pPr>
            <a:r>
              <a:rPr lang="en-US" sz="48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WORKFLOW DIAGRAM WITH TECH STACK</a:t>
            </a:r>
          </a:p>
        </p:txBody>
      </p:sp>
      <p:grpSp>
        <p:nvGrpSpPr>
          <p:cNvPr id="4" name="Group 4"/>
          <p:cNvGrpSpPr/>
          <p:nvPr/>
        </p:nvGrpSpPr>
        <p:grpSpPr>
          <a:xfrm>
            <a:off x="632753" y="636360"/>
            <a:ext cx="17103324" cy="1479628"/>
            <a:chOff x="0" y="0"/>
            <a:chExt cx="22804433" cy="1972837"/>
          </a:xfrm>
        </p:grpSpPr>
        <p:grpSp>
          <p:nvGrpSpPr>
            <p:cNvPr id="5" name="Group 5"/>
            <p:cNvGrpSpPr/>
            <p:nvPr/>
          </p:nvGrpSpPr>
          <p:grpSpPr>
            <a:xfrm>
              <a:off x="14170825" y="0"/>
              <a:ext cx="8633608" cy="1747411"/>
              <a:chOff x="0" y="0"/>
              <a:chExt cx="979436" cy="198234"/>
            </a:xfrm>
          </p:grpSpPr>
          <p:sp>
            <p:nvSpPr>
              <p:cNvPr id="6" name="Freeform 6"/>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7" name="TextBox 7"/>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8" name="TextBox 8"/>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9" name="Freeform 9"/>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0" name="Group 10"/>
            <p:cNvGrpSpPr/>
            <p:nvPr/>
          </p:nvGrpSpPr>
          <p:grpSpPr>
            <a:xfrm>
              <a:off x="20167830" y="331442"/>
              <a:ext cx="1084526" cy="108452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2" name="Freeform 12"/>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3" name="Freeform 13"/>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sp>
        <p:nvSpPr>
          <p:cNvPr id="14" name="AutoShape 2">
            <a:extLst>
              <a:ext uri="{FF2B5EF4-FFF2-40B4-BE49-F238E27FC236}">
                <a16:creationId xmlns:a16="http://schemas.microsoft.com/office/drawing/2014/main" id="{F21832B7-BBA4-6642-09D9-CB87D8F8D85B}"/>
              </a:ext>
            </a:extLst>
          </p:cNvPr>
          <p:cNvSpPr>
            <a:spLocks noChangeAspect="1" noChangeArrowheads="1"/>
          </p:cNvSpPr>
          <p:nvPr/>
        </p:nvSpPr>
        <p:spPr bwMode="auto">
          <a:xfrm>
            <a:off x="9144000" y="44577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6" name="Picture 15">
            <a:extLst>
              <a:ext uri="{FF2B5EF4-FFF2-40B4-BE49-F238E27FC236}">
                <a16:creationId xmlns:a16="http://schemas.microsoft.com/office/drawing/2014/main" id="{38ACA9CC-78CA-016E-7AA0-17684983C1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26491" y="1715554"/>
            <a:ext cx="5603509" cy="831780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a:p>
        </p:txBody>
      </p:sp>
      <p:sp>
        <p:nvSpPr>
          <p:cNvPr id="3" name="TextBox 3"/>
          <p:cNvSpPr txBox="1"/>
          <p:nvPr/>
        </p:nvSpPr>
        <p:spPr>
          <a:xfrm>
            <a:off x="2817978" y="2261775"/>
            <a:ext cx="12652043" cy="6419321"/>
          </a:xfrm>
          <a:prstGeom prst="rect">
            <a:avLst/>
          </a:prstGeom>
        </p:spPr>
        <p:txBody>
          <a:bodyPr lIns="0" tIns="0" rIns="0" bIns="0" rtlCol="0" anchor="t">
            <a:spAutoFit/>
          </a:bodyPr>
          <a:lstStyle/>
          <a:p>
            <a:pPr algn="ctr">
              <a:lnSpc>
                <a:spcPts val="7300"/>
              </a:lnSpc>
            </a:pPr>
            <a:r>
              <a:rPr lang="en-US" sz="4000" b="1" u="sng" dirty="0">
                <a:gradFill>
                  <a:gsLst>
                    <a:gs pos="0">
                      <a:srgbClr val="0D5B2E">
                        <a:alpha val="100000"/>
                      </a:srgbClr>
                    </a:gs>
                    <a:gs pos="100000">
                      <a:srgbClr val="B8F4EB">
                        <a:alpha val="100000"/>
                      </a:srgbClr>
                    </a:gs>
                  </a:gsLst>
                  <a:lin ang="5400000"/>
                </a:gradFill>
                <a:latin typeface="Montserrat Bold"/>
                <a:ea typeface="Montserrat Bold"/>
                <a:cs typeface="Montserrat Bold"/>
                <a:sym typeface="Montserrat Bold"/>
              </a:rPr>
              <a:t>TEAM MEMBERS</a:t>
            </a:r>
          </a:p>
          <a:p>
            <a:pPr algn="ctr">
              <a:lnSpc>
                <a:spcPts val="7300"/>
              </a:lnSpc>
            </a:pPr>
            <a:r>
              <a:rPr lang="en-US" sz="3200" b="1" dirty="0">
                <a:gradFill>
                  <a:gsLst>
                    <a:gs pos="0">
                      <a:srgbClr val="0D5B2E">
                        <a:alpha val="100000"/>
                      </a:srgbClr>
                    </a:gs>
                    <a:gs pos="100000">
                      <a:srgbClr val="B8F4EB">
                        <a:alpha val="100000"/>
                      </a:srgbClr>
                    </a:gs>
                  </a:gsLst>
                  <a:lin ang="5400000"/>
                </a:gradFill>
                <a:latin typeface="Montserrat Bold"/>
                <a:ea typeface="Montserrat Bold"/>
                <a:cs typeface="Montserrat Bold"/>
                <a:sym typeface="Montserrat Bold"/>
              </a:rPr>
              <a:t>22MIS1103 – Manoj Sagaran A</a:t>
            </a:r>
          </a:p>
          <a:p>
            <a:pPr algn="ctr">
              <a:lnSpc>
                <a:spcPts val="7300"/>
              </a:lnSpc>
            </a:pPr>
            <a:r>
              <a:rPr lang="en-US" sz="3200" b="1" dirty="0">
                <a:gradFill>
                  <a:gsLst>
                    <a:gs pos="0">
                      <a:srgbClr val="0D5B2E">
                        <a:alpha val="100000"/>
                      </a:srgbClr>
                    </a:gs>
                    <a:gs pos="100000">
                      <a:srgbClr val="B8F4EB">
                        <a:alpha val="100000"/>
                      </a:srgbClr>
                    </a:gs>
                  </a:gsLst>
                  <a:lin ang="5400000"/>
                </a:gradFill>
                <a:latin typeface="Montserrat Bold"/>
                <a:ea typeface="Montserrat Bold"/>
                <a:cs typeface="Montserrat Bold"/>
                <a:sym typeface="Montserrat Bold"/>
              </a:rPr>
              <a:t>22MIS1115 – Azim Niyaz</a:t>
            </a:r>
          </a:p>
          <a:p>
            <a:pPr algn="ctr">
              <a:lnSpc>
                <a:spcPts val="7300"/>
              </a:lnSpc>
            </a:pPr>
            <a:r>
              <a:rPr lang="en-US" sz="3200" b="1" dirty="0">
                <a:gradFill>
                  <a:gsLst>
                    <a:gs pos="0">
                      <a:srgbClr val="0D5B2E">
                        <a:alpha val="100000"/>
                      </a:srgbClr>
                    </a:gs>
                    <a:gs pos="100000">
                      <a:srgbClr val="B8F4EB">
                        <a:alpha val="100000"/>
                      </a:srgbClr>
                    </a:gs>
                  </a:gsLst>
                  <a:lin ang="5400000"/>
                </a:gradFill>
                <a:latin typeface="Montserrat Bold"/>
                <a:ea typeface="Montserrat Bold"/>
                <a:cs typeface="Montserrat Bold"/>
                <a:sym typeface="Montserrat Bold"/>
              </a:rPr>
              <a:t>22MIS1018 – Tharun Kumar</a:t>
            </a:r>
          </a:p>
          <a:p>
            <a:pPr algn="ctr">
              <a:lnSpc>
                <a:spcPts val="7300"/>
              </a:lnSpc>
            </a:pPr>
            <a:r>
              <a:rPr lang="en-US" sz="3200" b="1" dirty="0">
                <a:gradFill>
                  <a:gsLst>
                    <a:gs pos="0">
                      <a:srgbClr val="0D5B2E">
                        <a:alpha val="100000"/>
                      </a:srgbClr>
                    </a:gs>
                    <a:gs pos="100000">
                      <a:srgbClr val="B8F4EB">
                        <a:alpha val="100000"/>
                      </a:srgbClr>
                    </a:gs>
                  </a:gsLst>
                  <a:lin ang="5400000"/>
                </a:gradFill>
                <a:latin typeface="Montserrat Bold"/>
                <a:ea typeface="Montserrat Bold"/>
                <a:cs typeface="Montserrat Bold"/>
                <a:sym typeface="Montserrat Bold"/>
              </a:rPr>
              <a:t>22MIS1156 – Giridharan S</a:t>
            </a:r>
          </a:p>
          <a:p>
            <a:pPr algn="ctr">
              <a:lnSpc>
                <a:spcPts val="7300"/>
              </a:lnSpc>
            </a:pPr>
            <a:r>
              <a:rPr lang="en-US" sz="3200" b="1" dirty="0">
                <a:gradFill>
                  <a:gsLst>
                    <a:gs pos="0">
                      <a:srgbClr val="0D5B2E">
                        <a:alpha val="100000"/>
                      </a:srgbClr>
                    </a:gs>
                    <a:gs pos="100000">
                      <a:srgbClr val="B8F4EB">
                        <a:alpha val="100000"/>
                      </a:srgbClr>
                    </a:gs>
                  </a:gsLst>
                  <a:lin ang="5400000"/>
                </a:gradFill>
                <a:latin typeface="Montserrat Bold"/>
                <a:ea typeface="Montserrat Bold"/>
                <a:cs typeface="Montserrat Bold"/>
                <a:sym typeface="Montserrat Bold"/>
              </a:rPr>
              <a:t>22MIS1087 – </a:t>
            </a:r>
            <a:r>
              <a:rPr lang="en-US" sz="3200" b="1" dirty="0" err="1">
                <a:gradFill>
                  <a:gsLst>
                    <a:gs pos="0">
                      <a:srgbClr val="0D5B2E">
                        <a:alpha val="100000"/>
                      </a:srgbClr>
                    </a:gs>
                    <a:gs pos="100000">
                      <a:srgbClr val="B8F4EB">
                        <a:alpha val="100000"/>
                      </a:srgbClr>
                    </a:gs>
                  </a:gsLst>
                  <a:lin ang="5400000"/>
                </a:gradFill>
                <a:latin typeface="Montserrat Bold"/>
                <a:ea typeface="Montserrat Bold"/>
                <a:cs typeface="Montserrat Bold"/>
                <a:sym typeface="Montserrat Bold"/>
              </a:rPr>
              <a:t>Giridharaeswaran</a:t>
            </a:r>
            <a:r>
              <a:rPr lang="en-US" sz="3200" b="1" dirty="0">
                <a:gradFill>
                  <a:gsLst>
                    <a:gs pos="0">
                      <a:srgbClr val="0D5B2E">
                        <a:alpha val="100000"/>
                      </a:srgbClr>
                    </a:gs>
                    <a:gs pos="100000">
                      <a:srgbClr val="B8F4EB">
                        <a:alpha val="100000"/>
                      </a:srgbClr>
                    </a:gs>
                  </a:gsLst>
                  <a:lin ang="5400000"/>
                </a:gradFill>
                <a:latin typeface="Montserrat Bold"/>
                <a:ea typeface="Montserrat Bold"/>
                <a:cs typeface="Montserrat Bold"/>
                <a:sym typeface="Montserrat Bold"/>
              </a:rPr>
              <a:t> S</a:t>
            </a:r>
          </a:p>
          <a:p>
            <a:pPr algn="ctr">
              <a:lnSpc>
                <a:spcPts val="7300"/>
              </a:lnSpc>
            </a:pPr>
            <a:r>
              <a:rPr lang="en-US" sz="3200" b="1" dirty="0">
                <a:gradFill>
                  <a:gsLst>
                    <a:gs pos="0">
                      <a:srgbClr val="0D5B2E">
                        <a:alpha val="100000"/>
                      </a:srgbClr>
                    </a:gs>
                    <a:gs pos="100000">
                      <a:srgbClr val="B8F4EB">
                        <a:alpha val="100000"/>
                      </a:srgbClr>
                    </a:gs>
                  </a:gsLst>
                  <a:lin ang="5400000"/>
                </a:gradFill>
                <a:latin typeface="Montserrat Bold"/>
                <a:ea typeface="Montserrat Bold"/>
                <a:cs typeface="Montserrat Bold"/>
                <a:sym typeface="Montserrat Bold"/>
              </a:rPr>
              <a:t>22MMIS1219 – </a:t>
            </a:r>
            <a:r>
              <a:rPr lang="en-US" sz="3200" b="1" dirty="0" err="1">
                <a:gradFill>
                  <a:gsLst>
                    <a:gs pos="0">
                      <a:srgbClr val="0D5B2E">
                        <a:alpha val="100000"/>
                      </a:srgbClr>
                    </a:gs>
                    <a:gs pos="100000">
                      <a:srgbClr val="B8F4EB">
                        <a:alpha val="100000"/>
                      </a:srgbClr>
                    </a:gs>
                  </a:gsLst>
                  <a:lin ang="5400000"/>
                </a:gradFill>
                <a:latin typeface="Montserrat Bold"/>
                <a:ea typeface="Montserrat Bold"/>
                <a:cs typeface="Montserrat Bold"/>
                <a:sym typeface="Montserrat Bold"/>
              </a:rPr>
              <a:t>Tejeswar</a:t>
            </a:r>
            <a:r>
              <a:rPr lang="en-US" sz="3200" b="1" dirty="0">
                <a:gradFill>
                  <a:gsLst>
                    <a:gs pos="0">
                      <a:srgbClr val="0D5B2E">
                        <a:alpha val="100000"/>
                      </a:srgbClr>
                    </a:gs>
                    <a:gs pos="100000">
                      <a:srgbClr val="B8F4EB">
                        <a:alpha val="100000"/>
                      </a:srgbClr>
                    </a:gs>
                  </a:gsLst>
                  <a:lin ang="5400000"/>
                </a:gradFill>
                <a:latin typeface="Montserrat Bold"/>
                <a:ea typeface="Montserrat Bold"/>
                <a:cs typeface="Montserrat Bold"/>
                <a:sym typeface="Montserrat Bold"/>
              </a:rPr>
              <a:t> </a:t>
            </a:r>
          </a:p>
        </p:txBody>
      </p:sp>
      <p:grpSp>
        <p:nvGrpSpPr>
          <p:cNvPr id="4" name="Group 4"/>
          <p:cNvGrpSpPr/>
          <p:nvPr/>
        </p:nvGrpSpPr>
        <p:grpSpPr>
          <a:xfrm>
            <a:off x="632753" y="636360"/>
            <a:ext cx="17103324" cy="1479628"/>
            <a:chOff x="0" y="0"/>
            <a:chExt cx="22804433" cy="1972837"/>
          </a:xfrm>
        </p:grpSpPr>
        <p:grpSp>
          <p:nvGrpSpPr>
            <p:cNvPr id="5" name="Group 5"/>
            <p:cNvGrpSpPr/>
            <p:nvPr/>
          </p:nvGrpSpPr>
          <p:grpSpPr>
            <a:xfrm>
              <a:off x="14170825" y="0"/>
              <a:ext cx="8633608" cy="1747411"/>
              <a:chOff x="0" y="0"/>
              <a:chExt cx="979436" cy="198234"/>
            </a:xfrm>
          </p:grpSpPr>
          <p:sp>
            <p:nvSpPr>
              <p:cNvPr id="6" name="Freeform 6"/>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7" name="TextBox 7"/>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8" name="TextBox 8"/>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9" name="Freeform 9"/>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0" name="Group 10"/>
            <p:cNvGrpSpPr/>
            <p:nvPr/>
          </p:nvGrpSpPr>
          <p:grpSpPr>
            <a:xfrm>
              <a:off x="20167830" y="331442"/>
              <a:ext cx="1084526" cy="108452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2" name="Freeform 12"/>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3" name="Freeform 13"/>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5B8DAE0642B942BB833EAABF75097C" ma:contentTypeVersion="9" ma:contentTypeDescription="Create a new document." ma:contentTypeScope="" ma:versionID="7eee752413ace48018808fe7e448a0ec">
  <xsd:schema xmlns:xsd="http://www.w3.org/2001/XMLSchema" xmlns:xs="http://www.w3.org/2001/XMLSchema" xmlns:p="http://schemas.microsoft.com/office/2006/metadata/properties" xmlns:ns3="d34c6c18-4ad7-4e7f-8c7d-cff3ba25f783" targetNamespace="http://schemas.microsoft.com/office/2006/metadata/properties" ma:root="true" ma:fieldsID="1a5e1a1fae4a9f5524bee5798ac7a775" ns3:_="">
    <xsd:import namespace="d34c6c18-4ad7-4e7f-8c7d-cff3ba25f783"/>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4c6c18-4ad7-4e7f-8c7d-cff3ba25f78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d34c6c18-4ad7-4e7f-8c7d-cff3ba25f783" xsi:nil="true"/>
  </documentManagement>
</p:properties>
</file>

<file path=customXml/itemProps1.xml><?xml version="1.0" encoding="utf-8"?>
<ds:datastoreItem xmlns:ds="http://schemas.openxmlformats.org/officeDocument/2006/customXml" ds:itemID="{22031D1B-FF95-48F7-95A3-798E6FB22B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34c6c18-4ad7-4e7f-8c7d-cff3ba25f78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D3185E2-E753-47F3-9D69-7177EDDA11F9}">
  <ds:schemaRefs>
    <ds:schemaRef ds:uri="http://schemas.microsoft.com/sharepoint/v3/contenttype/forms"/>
  </ds:schemaRefs>
</ds:datastoreItem>
</file>

<file path=customXml/itemProps3.xml><?xml version="1.0" encoding="utf-8"?>
<ds:datastoreItem xmlns:ds="http://schemas.openxmlformats.org/officeDocument/2006/customXml" ds:itemID="{CB2B98B8-3D4F-4714-8DBA-0D8F614EE67F}">
  <ds:schemaRefs>
    <ds:schemaRef ds:uri="http://purl.org/dc/terms/"/>
    <ds:schemaRef ds:uri="http://purl.org/dc/elements/1.1/"/>
    <ds:schemaRef ds:uri="http://schemas.microsoft.com/office/2006/metadata/properties"/>
    <ds:schemaRef ds:uri="http://schemas.microsoft.com/office/infopath/2007/PartnerControls"/>
    <ds:schemaRef ds:uri="http://purl.org/dc/dcmitype/"/>
    <ds:schemaRef ds:uri="http://schemas.microsoft.com/office/2006/documentManagement/types"/>
    <ds:schemaRef ds:uri="http://schemas.openxmlformats.org/package/2006/metadata/core-properties"/>
    <ds:schemaRef ds:uri="d34c6c18-4ad7-4e7f-8c7d-cff3ba25f783"/>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129</TotalTime>
  <Words>626</Words>
  <Application>Microsoft Office PowerPoint</Application>
  <PresentationFormat>Custom</PresentationFormat>
  <Paragraphs>46</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Playfair Display Bold</vt:lpstr>
      <vt:lpstr>Arimo</vt:lpstr>
      <vt:lpstr>Arial</vt:lpstr>
      <vt:lpstr>Calibri</vt:lpstr>
      <vt:lpstr>Montserrat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GLITCHCON 2.0</dc:title>
  <cp:lastModifiedBy>Manoj Sagaran</cp:lastModifiedBy>
  <cp:revision>4</cp:revision>
  <dcterms:created xsi:type="dcterms:W3CDTF">2006-08-16T00:00:00Z</dcterms:created>
  <dcterms:modified xsi:type="dcterms:W3CDTF">2026-03-09T09:18:20Z</dcterms:modified>
  <dc:identifier>DAG7o8SITjs</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0x010100265B8DAE0642B942BB833EAABF75097C</vt:lpwstr>
  </property>
</Properties>
</file>